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欢迎参加本次关于Roofy Investments网站优化策略的研讨会。这份报告将系统性地剖析我们网站当前的现状，诊断核心问题，并提出一套完整的、可执行的优化方案。我们的目标非常明确：将网站从一个简单的“名片”，升级为一个能够真正构建品牌信任、驱动业务增长的强大引擎。接下来，我们将深入探讨如何实现这一目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是整个报告的核心摘要。我们的诊断非常清晰：网站目前存在三大赤字——信任、价值和体验。这导致它无法有效吸引和转化客户。因此，我们提出三大战略建议：构建信任、深化价值、优化体验。通过实施这些举措，我们预期网站将不再仅仅是一个名片，而是一个能显著提升品牌形象和客户转化率的增长引擎。接下来，我们将逐一展开分析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今天报告的议程。我们将首先进入第一部分，对网站的现状进行全面诊断，深入剖析存在的核心问题。然后，我们会提出针对性的战略优化建议。第三部分将给出非常具体的行动方案和优先级。最后，我们将展望优化后的预期成果和投资回报。现在，让我们从第一部分开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首先来看宏观诊断。虽然网站设计现代，但深入分析后，我们发现三大核心问题构成了业务增长的主要障碍。第一，信任赤字，作为一家新公司，我们没有提供足够的信息来赢得客户的信任。第二，价值模糊，我们的业务介绍太笼统，客户不知道我们的独特优势在哪里。第三，体验断点，网站存在明显的技术问题和功能缺失，影响了用户体验。接下来，我们将逐一深入探讨这些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深入看第一个问题：信任赤字。这是我们当前最大的障碍。首先，网站上没有任何关于我们团队的介绍，而在高端服务领域，客户投资的不仅仅是项目，更是“人”。其次，我们没有展示任何成功案例，客户无法验证我们的能力。最后，我们缺少客户评价等社会证明。要知道，超过80%的消费者信任在线评论，我们忽视了这一点，就等于把潜在客户推向了竞争对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第二个核心问题是价值模糊。我们的网站没有清晰地告诉客户，我们到底能为他们做什么，以及为什么应该选择我们。我们的品牌口号，比如“Built on Light”，虽然听起来不错，但客户不明白这到底意味着什么。我们的业务介绍也非常笼统，没有突出任何差异化优势。更重要的是，像价格货币单位不统一这样的细节问题，会让客户觉得我们不够专业，从而产生疑虑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个问题，体验断点。一个旨在吸引高端客户的网站，体验必须是完美的。但我们的网站存在多处明显问题。首先，房源图片无法加载，这在房地产行业是不可接受的。其次，页面上有大量重复的关键词，看起来非常不专业。最关键的是，我们缺少在线联系表单和社交媒体链接这些基本功能，这等于关上了客户与我们沟通的大门，让他们无处下手。这些问题共同损害了我们的品牌形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诊断完问题，我们现在进入第二部分：战略优化建议。针对前面提到的三大问题，我们将提出三大系统性的解决方案，分别是构建信任、深化价值和优化体验。这部分将详细说明我们应该“做什么”来扭转局面。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战略建议围绕三大支柱展开。第一，构建信任护城河，我们要让客户知道我们是谁，我们有多优秀。第二，深化内容与价值沟通，我们要清晰地告诉客户我们能提供什么独特的价值。第三，优化全链路用户体验，我们要确保客户在网站上的每一步都顺畅、愉快。这三大支柱将共同作用，系统性地解决我们之前发现的所有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来看第一个战略的具体行动。要构建信任，我们需要做四件事。第一，打造一个有深度的“关于我们”页面，讲好我们的品牌故事。第二，隆重推出我们的核心团队，让客户认识我们这些专业的“人”。第三，建立成功案例专区，用事实说话。第四，引入客户评价和合作伙伴Logo，用社会证明来增强我们的信誉。通过这四步，我们将把网站从一个冷冰冰的展示，变成一个有温度、值得信赖的平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战略二和三：深化价值与优化体验。在深化价值方面，我们要为每个业务创建独立的深度页面，用博客建立专家形象，并优化房源信息。在优化体验方面，我们要进行全面的技术修复，增加在线表单等核心功能，并确保网站在手机上也能完美运行。这些举措将共同确保我们的价值能够被清晰地传达，并且用户能够顺畅地与我们互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有了战略方向，我们现在进入第三部分：具体行动方案。在这一章，我们将把所有需要做的事情整理成一个清晰的清单，并划分出优先级，确保我们的执行能够高效、有序地进行。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张表格是我们接下来行动的路线图。我们把所有优化任务分成了不同模块，并明确了当前问题、优化建议和执行优先级。大家可以看到，大部分核心内容和功能的优化都被列为“高优先级”，这些是我们需要立即着手解决的。而像成功案例和部分功能开发，可以放在第二步。这个清单将帮助我们团队明确目标，协同工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报告到此结束。总而言之，网站优化是一项关乎公司未来增长的战略性投资。通过系统性地解决信任、价值和体验问题，我们能够将网站打造成为一个强大的品牌资产和业务引擎。感谢各位的时间，期待与大家共同推进这项重要工作。谢谢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2F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81000" y="3937000"/>
            <a:ext cx="1143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Montserrat"/>
              </a:rPr>
              <a:t>Roofy Investments 网站优化策略建议</a:t>
            </a:r>
            <a:endParaRPr lang="en-US" sz="46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Montserrat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1016000" y="5334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0" i="0" u="none" strike="noStrike" spc="100">
                <a:solidFill>
                  <a:srgbClr val="FFFFFF">
                    <a:alpha val="9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Open Sans"/>
              </a:rPr>
              <a:t>从“有”到“优”：构建品牌信任与增长引擎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1524000" y="6731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出品方：专业战略咨询团队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858000" y="6731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2026年6月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334000" y="6350000"/>
            <a:ext cx="1524000" cy="38100"/>
          </a:xfrm>
          <a:prstGeom prst="roundRect">
            <a:avLst>
              <a:gd name="adj" fmla="val 0"/>
            </a:avLst>
          </a:prstGeom>
          <a:solidFill>
            <a:srgbClr val="B8733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C8B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81000" y="381000"/>
            <a:ext cx="1143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2F2F2F"/>
                </a:solidFill>
                <a:latin typeface="Montserrat"/>
                <a:ea typeface="Montserrat"/>
                <a:cs typeface="Montserrat"/>
                <a:sym typeface="Montserrat"/>
              </a:rPr>
              <a:t>执行摘要：从“名片”到“增长引擎”的战略升级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3819">
            <a:off x="381004" y="1073150"/>
            <a:ext cx="1143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D4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381000" y="1397000"/>
            <a:ext cx="2921000" cy="48260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508000" y="3048000"/>
            <a:ext cx="2667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3000" b="1" i="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Executive</a:t>
            </a:r>
            <a:br>
              <a:rPr lang="en-US" sz="3000" b="1" i="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3000" b="1" i="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Summary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683000" y="1524000"/>
            <a:ext cx="8128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3683000" y="1524000"/>
            <a:ext cx="76200" cy="1333500"/>
          </a:xfrm>
          <a:prstGeom prst="roundRect">
            <a:avLst>
              <a:gd name="adj" fmla="val 0"/>
            </a:avLst>
          </a:prstGeom>
          <a:solidFill>
            <a:srgbClr val="B8733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3937000" y="1651000"/>
            <a:ext cx="101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B87333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5357030">
            <a:off x="4572000" y="2178090"/>
            <a:ext cx="101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5334000" y="1651000"/>
            <a:ext cx="622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F2F2F"/>
                </a:solidFill>
                <a:latin typeface="Montserrat"/>
                <a:ea typeface="Montserrat"/>
                <a:cs typeface="Montserrat"/>
                <a:sym typeface="Montserrat"/>
              </a:rPr>
              <a:t>核心诊断：信任、价值、体验三大赤字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7161">
            <a:off x="5334007" y="2089150"/>
            <a:ext cx="609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D40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5334000" y="2184400"/>
            <a:ext cx="622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2F2F2F"/>
                </a:solidFill>
                <a:latin typeface="Open Sans"/>
                <a:ea typeface="Open Sans"/>
                <a:cs typeface="Open Sans"/>
                <a:sym typeface="Open Sans"/>
              </a:rPr>
              <a:t>网站在视觉上虽具现代感，但缺乏信任背书、价值主张模糊、用户体验存在断点，导致其无法有效转化高价值客户，当前仅停留在“线上名片”的初级阶段。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683000" y="3238500"/>
            <a:ext cx="8128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3683000" y="3238500"/>
            <a:ext cx="76200" cy="1333500"/>
          </a:xfrm>
          <a:prstGeom prst="roundRect">
            <a:avLst>
              <a:gd name="adj" fmla="val 0"/>
            </a:avLst>
          </a:prstGeom>
          <a:solidFill>
            <a:srgbClr val="B8733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3937000" y="3365500"/>
            <a:ext cx="101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B87333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5357030">
            <a:off x="4572000" y="3892590"/>
            <a:ext cx="101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5334000" y="3365500"/>
            <a:ext cx="622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F2F2F"/>
                </a:solidFill>
                <a:latin typeface="Montserrat"/>
                <a:ea typeface="Montserrat"/>
                <a:cs typeface="Montserrat"/>
                <a:sym typeface="Montserrat"/>
              </a:rPr>
              <a:t>战略建议：构建信任、深化价值、优化体验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7161">
            <a:off x="5334007" y="3803650"/>
            <a:ext cx="609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D40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5334000" y="3898900"/>
            <a:ext cx="622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2F2F2F"/>
                </a:solidFill>
                <a:latin typeface="Open Sans"/>
                <a:ea typeface="Open Sans"/>
                <a:cs typeface="Open Sans"/>
                <a:sym typeface="Open Sans"/>
              </a:rPr>
              <a:t>通过充实团队专业背景与成功案例、深化业务核心价值内容、修复技术与交互体验问题，系统性解决核心障碍，从内容到体验全方位重塑品牌的专业可信形象。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3683000" y="4953000"/>
            <a:ext cx="8128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3683000" y="4953000"/>
            <a:ext cx="76200" cy="1333500"/>
          </a:xfrm>
          <a:prstGeom prst="roundRect">
            <a:avLst>
              <a:gd name="adj" fmla="val 0"/>
            </a:avLst>
          </a:prstGeom>
          <a:solidFill>
            <a:srgbClr val="B8733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3937000" y="5080000"/>
            <a:ext cx="101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B87333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5357030">
            <a:off x="4572000" y="5607090"/>
            <a:ext cx="101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5334000" y="5080000"/>
            <a:ext cx="622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F2F2F"/>
                </a:solidFill>
                <a:latin typeface="Montserrat"/>
                <a:ea typeface="Montserrat"/>
                <a:cs typeface="Montserrat"/>
                <a:sym typeface="Montserrat"/>
              </a:rPr>
              <a:t>预期成果：提升品牌形象与客户转化率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-7161">
            <a:off x="5334007" y="5518150"/>
            <a:ext cx="609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D40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5334000" y="5613400"/>
            <a:ext cx="622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2F2F2F"/>
                </a:solidFill>
                <a:latin typeface="Open Sans"/>
                <a:ea typeface="Open Sans"/>
                <a:cs typeface="Open Sans"/>
                <a:sym typeface="Open Sans"/>
              </a:rPr>
              <a:t>将网站从静态展示升级为能有效吸引、培育和转化潜在客户的增长型平台，建立可持续的获客与转化机制，为公司业务的长期稳定发展奠定坚实的数字基础。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C8B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2794000" cy="68580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984500"/>
            <a:ext cx="279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目 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048000" y="762000"/>
            <a:ext cx="7620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004D4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3302000" y="10160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B87333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191000" y="952500"/>
            <a:ext cx="622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F2F2F"/>
                </a:solidFill>
                <a:latin typeface="Montserrat"/>
                <a:ea typeface="Montserrat"/>
                <a:cs typeface="Montserrat"/>
                <a:sym typeface="Montserrat"/>
              </a:rPr>
              <a:t>现状诊断与核心问题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2F2F2F"/>
                </a:solidFill>
                <a:latin typeface="Open Sans"/>
                <a:ea typeface="Open Sans"/>
                <a:cs typeface="Open Sans"/>
                <a:sym typeface="Open Sans"/>
              </a:rPr>
              <a:t>深度剖析当前网站在信任、价值、体验三方面的核心障碍，从用户视角梳理转化流程中的关键断点与体验缺失，明确问题根源。</a:t>
            </a:r>
            <a:endParaRPr lang="en-US" sz="1200" b="0" i="0" u="none" strike="noStrike">
              <a:solidFill>
                <a:srgbClr val="2F2F2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3048000" y="2349500"/>
            <a:ext cx="7620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3302000" y="26035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B87333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191000" y="2540000"/>
            <a:ext cx="622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F2F2F"/>
                </a:solidFill>
                <a:latin typeface="Montserrat"/>
                <a:ea typeface="Montserrat"/>
                <a:cs typeface="Montserrat"/>
                <a:sym typeface="Montserrat"/>
              </a:rPr>
              <a:t>战略优化建议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2F2F2F"/>
                </a:solidFill>
                <a:latin typeface="Open Sans"/>
                <a:ea typeface="Open Sans"/>
                <a:cs typeface="Open Sans"/>
                <a:sym typeface="Open Sans"/>
              </a:rPr>
              <a:t>紧扣用户核心诉求，提出构建品牌信任、深化商业价值传递、全链路优化用户体验的三大系统性解决方案，确立网站升级的整体方向。</a:t>
            </a:r>
            <a:endParaRPr lang="en-US" sz="1200" b="0" i="0" u="none" strike="noStrike">
              <a:solidFill>
                <a:srgbClr val="2F2F2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3048000" y="3873500"/>
            <a:ext cx="7620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3302000" y="41275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B87333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191000" y="4064000"/>
            <a:ext cx="622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F2F2F"/>
                </a:solidFill>
                <a:latin typeface="Montserrat"/>
                <a:ea typeface="Montserrat"/>
                <a:cs typeface="Montserrat"/>
                <a:sym typeface="Montserrat"/>
              </a:rPr>
              <a:t>具体行动方案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2F2F2F"/>
                </a:solidFill>
                <a:latin typeface="Open Sans"/>
                <a:ea typeface="Open Sans"/>
                <a:cs typeface="Open Sans"/>
                <a:sym typeface="Open Sans"/>
              </a:rPr>
              <a:t>将战略拆解为可落地的执行项，提供详细的内容重构、功能升级、视觉设计优化清单，并明确各项任务的实施路径与执行优先级。</a:t>
            </a:r>
            <a:endParaRPr lang="en-US" sz="1200" b="0" i="0" u="none" strike="noStrike">
              <a:solidFill>
                <a:srgbClr val="2F2F2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3048000" y="5334000"/>
            <a:ext cx="7620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3302000" y="55880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B87333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191000" y="5524500"/>
            <a:ext cx="622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F2F2F"/>
                </a:solidFill>
                <a:latin typeface="Montserrat"/>
                <a:ea typeface="Montserrat"/>
                <a:cs typeface="Montserrat"/>
                <a:sym typeface="Montserrat"/>
              </a:rPr>
              <a:t>预期成果与投资回报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2F2F2F"/>
                </a:solidFill>
                <a:latin typeface="Open Sans"/>
                <a:ea typeface="Open Sans"/>
                <a:cs typeface="Open Sans"/>
                <a:sym typeface="Open Sans"/>
              </a:rPr>
              <a:t>量化预测网站优化后的用户转化提升、品牌形象改善等商业价值，分析短期改进效果与长期品牌资产沉淀的综合投资回报。</a:t>
            </a:r>
            <a:endParaRPr lang="en-US" sz="1200" b="0" i="0" u="none" strike="noStrike">
              <a:solidFill>
                <a:srgbClr val="2F2F2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C8B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81000" y="381000"/>
            <a:ext cx="1143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2F2F2F"/>
                </a:solidFill>
                <a:latin typeface="Montserrat"/>
                <a:ea typeface="Montserrat"/>
                <a:cs typeface="Montserrat"/>
                <a:sym typeface="Montserrat"/>
              </a:rPr>
              <a:t>网站虽具现代设计，但三大核心问题阻碍业务增长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381000" y="1016000"/>
            <a:ext cx="1143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2F2F2F"/>
                </a:solidFill>
                <a:latin typeface="Open Sans"/>
                <a:ea typeface="Open Sans"/>
                <a:cs typeface="Open Sans"/>
                <a:sym typeface="Open Sans"/>
              </a:rPr>
              <a:t>核心问题诊断：信任赤字、价值模糊、体验断点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3819">
            <a:off x="381004" y="1771650"/>
            <a:ext cx="1143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D4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381000" y="2159000"/>
            <a:ext cx="34290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cap="flat" cmpd="sng">
            <a:solidFill>
              <a:srgbClr val="E6CFCF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381000" y="2159000"/>
            <a:ext cx="3429000" cy="7620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08000" y="2311400"/>
            <a:ext cx="3175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B87333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r>
              <a:rPr lang="en-US" sz="1800" b="1" i="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信任赤字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08000" y="3175000"/>
            <a:ext cx="3175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F2F2F"/>
                </a:solidFill>
                <a:latin typeface="Open Sans"/>
                <a:ea typeface="Open Sans"/>
                <a:cs typeface="Open Sans"/>
                <a:sym typeface="Open Sans"/>
              </a:rPr>
              <a:t>作为初创公司，网站目前缺乏关键的信任背书要素，包括专业的团队介绍、可验证的成功案例以及真实的客户评价体系。匿名化的团队展示与空洞的价值观口号，无法向高价值潜在客户传递可靠的商业信誉，使得客户在决策阶段因信任成本过高而产生犹豫，难以完成从认知到转化的关键跨越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064000" y="2159000"/>
            <a:ext cx="40640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cap="flat" cmpd="sng">
            <a:solidFill>
              <a:srgbClr val="E6CFCF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064000" y="2159000"/>
            <a:ext cx="4064000" cy="7620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191000" y="2311400"/>
            <a:ext cx="381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B87333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r>
              <a:rPr lang="en-US" sz="1800" b="1" i="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价值模糊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191000" y="3175000"/>
            <a:ext cx="3810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F2F2F"/>
                </a:solidFill>
                <a:latin typeface="Open Sans"/>
                <a:ea typeface="Open Sans"/>
                <a:cs typeface="Open Sans"/>
                <a:sym typeface="Open Sans"/>
              </a:rPr>
              <a:t>当前的业务介绍停留在过于笼统、抽象的层面，未能精准提炼并清晰传达品牌的独特价值主张（UVP）。缺乏具体的场景化描述与差异化优势解析，仅用通用化的行业口号和模糊的服务介绍，导致目标客户无法快速感知服务的核心价值与专业壁垒，难以在竞争激烈的市场中建立鲜明认知，削弱了品牌的吸引力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382000" y="2159000"/>
            <a:ext cx="30480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cap="flat" cmpd="sng">
            <a:solidFill>
              <a:srgbClr val="E6CFCF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8382000" y="2159000"/>
            <a:ext cx="3048000" cy="7620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509000" y="2311400"/>
            <a:ext cx="279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B87333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r>
              <a:rPr lang="en-US" sz="1800" b="1" i="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体验断点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509000" y="3175000"/>
            <a:ext cx="2794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F2F2F"/>
                </a:solidFill>
                <a:latin typeface="Open Sans"/>
                <a:ea typeface="Open Sans"/>
                <a:cs typeface="Open Sans"/>
                <a:sym typeface="Open Sans"/>
              </a:rPr>
              <a:t>网站存在明显的技术与交互瑕疵，例如关键信息模块图片缺失、核心转化入口（如在线咨询表单、联系方式聚合）功能不全或跳转异常。这些细节上的疏漏不仅破坏了用户浏览的连贯性，更直接损害了品牌传递的专业度，让用户在产生兴趣的关键节点因体验受阻而流失，大幅降低了流量的有效转化效率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381000" y="6096000"/>
            <a:ext cx="11430000" cy="508000"/>
          </a:xfrm>
          <a:prstGeom prst="roundRect">
            <a:avLst>
              <a:gd name="adj" fmla="val 0"/>
            </a:avLst>
          </a:prstGeom>
          <a:solidFill>
            <a:srgbClr val="004D4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508000" y="6197600"/>
            <a:ext cx="1117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04D40"/>
                </a:solidFill>
                <a:latin typeface="Montserrat"/>
                <a:ea typeface="Montserrat"/>
                <a:cs typeface="Montserrat"/>
                <a:sym typeface="Montserrat"/>
              </a:rPr>
              <a:t>总结：三大问题相互叠加，形成了“认知-信任-转化”全链路的流失闭环，需优先针对性修复以重建业务增长基础。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C8B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81000" y="508000"/>
            <a:ext cx="1092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2F2F2F"/>
                </a:solidFill>
                <a:latin typeface="Montserrat"/>
                <a:ea typeface="Montserrat"/>
                <a:cs typeface="Montserrat"/>
                <a:sym typeface="Montserrat"/>
              </a:rPr>
              <a:t>信任赤字：匿名的团队与空洞的承诺无法赢得高端客户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381000" y="1397000"/>
            <a:ext cx="3048000" cy="45720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08000" y="3048000"/>
            <a:ext cx="2794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核心问题一：</a:t>
            </a:r>
            <a:br>
              <a:rPr lang="en-US" sz="2800" b="1" i="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2800" b="1" i="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信任赤字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064000" y="2286000"/>
            <a:ext cx="254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B87333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064000" y="30480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2F2F2F"/>
                </a:solidFill>
                <a:latin typeface="Montserrat"/>
                <a:ea typeface="Montserrat"/>
                <a:cs typeface="Montserrat"/>
                <a:sym typeface="Montserrat"/>
              </a:rPr>
              <a:t>缺乏团队背书：决策的关键是“人”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064000" y="3937000"/>
            <a:ext cx="2540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2F2F2F"/>
                </a:solidFill>
                <a:latin typeface="Open Sans"/>
                <a:ea typeface="Open Sans"/>
                <a:cs typeface="Open Sans"/>
                <a:sym typeface="Open Sans"/>
              </a:rPr>
              <a:t>网站无任何创始团队或核心成员介绍，用户无法了解团队的专业背景与行业经验。在高风险投资决策中，匿名的团队难以获得信赖，客户更愿意为看得见的专业能力买单。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985000" y="2667000"/>
            <a:ext cx="241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B87333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985000" y="3429000"/>
            <a:ext cx="241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2F2F2F"/>
                </a:solidFill>
                <a:latin typeface="Montserrat"/>
                <a:ea typeface="Montserrat"/>
                <a:cs typeface="Montserrat"/>
                <a:sym typeface="Montserrat"/>
              </a:rPr>
              <a:t>缺失成功案例：无法证明实际能力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985000" y="4318000"/>
            <a:ext cx="2413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2F2F2F"/>
                </a:solidFill>
                <a:latin typeface="Open Sans"/>
                <a:ea typeface="Open Sans"/>
                <a:cs typeface="Open Sans"/>
                <a:sym typeface="Open Sans"/>
              </a:rPr>
              <a:t>未展示任何具体的成功案例、落地项目或行业标杆合作，客户无法通过过往业绩评估实际交付水平。空有服务口号，没有事实支撑，让高端客户的决策缺乏依据。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652000" y="2286000"/>
            <a:ext cx="203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B87333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9652000" y="3175000"/>
            <a:ext cx="203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2F2F2F"/>
                </a:solidFill>
                <a:latin typeface="Montserrat"/>
                <a:ea typeface="Montserrat"/>
                <a:cs typeface="Montserrat"/>
                <a:sym typeface="Montserrat"/>
              </a:rPr>
              <a:t>缺少社会证明：增加客户决策风险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652000" y="4064000"/>
            <a:ext cx="2032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2F2F2F"/>
                </a:solidFill>
                <a:latin typeface="Open Sans"/>
                <a:ea typeface="Open Sans"/>
                <a:cs typeface="Open Sans"/>
                <a:sym typeface="Open Sans"/>
              </a:rPr>
              <a:t>没有客户评价、权威媒体报道或合作伙伴Logo墙。尼尔森报告显示，84%的消费者信任在线评论如同个人推荐，我们正错失这一关键信任杠杆，导致转化效率低下。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C8B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81000" y="381000"/>
            <a:ext cx="1092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2F2F2F"/>
                </a:solidFill>
                <a:latin typeface="Montserrat"/>
                <a:ea typeface="Montserrat"/>
                <a:cs typeface="Montserrat"/>
                <a:sym typeface="Montserrat"/>
              </a:rPr>
              <a:t>价值模糊：抽象的口号无法转化为客户的具体认知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3819">
            <a:off x="381004" y="1200150"/>
            <a:ext cx="1143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F2F2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381000" y="1651000"/>
            <a:ext cx="3048000" cy="43180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508000" y="2984500"/>
            <a:ext cx="2794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3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核心问题二：</a:t>
            </a:r>
            <a:br>
              <a:rPr lang="en-US" sz="3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3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价值模糊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572000" y="2159000"/>
            <a:ext cx="88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B87333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715000" y="2159000"/>
            <a:ext cx="546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2F2F2F"/>
                </a:solidFill>
                <a:latin typeface="Montserrat"/>
                <a:ea typeface="Montserrat"/>
                <a:cs typeface="Montserrat"/>
                <a:sym typeface="Montserrat"/>
              </a:rPr>
              <a:t>抽象的品牌口号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2F2F2F"/>
                </a:solidFill>
                <a:latin typeface="Open Sans"/>
                <a:ea typeface="Open Sans"/>
                <a:cs typeface="Open Sans"/>
                <a:sym typeface="Open Sans"/>
              </a:rPr>
              <a:t>“Built on Light”等口号虽有格调，但过于抽象，用户无法建立具象认知。我们需要将诗意转化为客户能理解的实际利益，用直白的语言传递品牌能为其带来的核心价值，而非仅停留在感性的文字表达上。</a:t>
            </a:r>
            <a:endParaRPr lang="en-US" sz="1200" b="0" i="0" u="none" strike="noStrike">
              <a:solidFill>
                <a:srgbClr val="2F2F2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953000" y="3810000"/>
            <a:ext cx="88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B87333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096000" y="3810000"/>
            <a:ext cx="5080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2F2F2F"/>
                </a:solidFill>
                <a:latin typeface="Montserrat"/>
                <a:ea typeface="Montserrat"/>
                <a:cs typeface="Montserrat"/>
                <a:sym typeface="Montserrat"/>
              </a:rPr>
              <a:t>笼统的业务描述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2F2F2F"/>
                </a:solidFill>
                <a:latin typeface="Open Sans"/>
                <a:ea typeface="Open Sans"/>
                <a:cs typeface="Open Sans"/>
                <a:sym typeface="Open Sans"/>
              </a:rPr>
              <a:t>三大业务的介绍均为通用化、同质化描述，未体现品牌独特性与核心竞争力。例如，房地产板块未明确是专注高端住宅还是商业地产；LED广告业务也未提供具体覆盖位置、受众数据等关键信息，难以让客户感知业务的专业度与差异化优势。</a:t>
            </a:r>
            <a:endParaRPr lang="en-US" sz="1200" b="0" i="0" u="none" strike="noStrike">
              <a:solidFill>
                <a:srgbClr val="2F2F2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4572000" y="5270500"/>
            <a:ext cx="88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B87333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715000" y="5270500"/>
            <a:ext cx="546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2F2F2F"/>
                </a:solidFill>
                <a:latin typeface="Montserrat"/>
                <a:ea typeface="Montserrat"/>
                <a:cs typeface="Montserrat"/>
                <a:sym typeface="Montserrat"/>
              </a:rPr>
              <a:t>不一致的信息展示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2F2F2F"/>
                </a:solidFill>
                <a:latin typeface="Open Sans"/>
                <a:ea typeface="Open Sans"/>
                <a:cs typeface="Open Sans"/>
                <a:sym typeface="Open Sans"/>
              </a:rPr>
              <a:t>房源价格出现克瓦查与美元货币单位混用的情况，同时部分关键业务信息存在缺失、表述模糊的问题，这不仅给潜在客户带来理解上的困惑，也直接拉低了品牌的专业形象与信任度，成为客户决策的隐性阻碍。</a:t>
            </a:r>
            <a:endParaRPr lang="en-US" sz="1200" b="0" i="0" u="none" strike="noStrike">
              <a:solidFill>
                <a:srgbClr val="2F2F2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C8B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81000" y="381000"/>
            <a:ext cx="1143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2F2F2F"/>
                </a:solidFill>
                <a:latin typeface="Montserrat"/>
                <a:ea typeface="Montserrat"/>
                <a:cs typeface="Montserrat"/>
                <a:sym typeface="Montserrat"/>
              </a:rPr>
              <a:t>体验断点：技术瑕疵与功能缺失严重损害品牌形象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381000" y="1270000"/>
            <a:ext cx="3048000" cy="48260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08000" y="3175000"/>
            <a:ext cx="279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核心问题三：</a:t>
            </a:r>
            <a:br>
              <a:rPr lang="en-US" sz="2800" b="1" i="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2800" b="1" i="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体验断点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810000" y="2159000"/>
            <a:ext cx="241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B87333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19098">
            <a:off x="3810018" y="3041650"/>
            <a:ext cx="228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B8733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AutoShape 7"/>
          <p:cNvSpPr/>
          <p:nvPr/>
        </p:nvSpPr>
        <p:spPr>
          <a:xfrm>
            <a:off x="3810000" y="3302000"/>
            <a:ext cx="241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F2F2F"/>
                </a:solidFill>
                <a:latin typeface="Montserrat"/>
                <a:ea typeface="Montserrat"/>
                <a:cs typeface="Montserrat"/>
                <a:sym typeface="Montserrat"/>
              </a:rPr>
              <a:t>严重的技术瑕疵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810000" y="4064000"/>
            <a:ext cx="2413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F2F2F"/>
                </a:solidFill>
                <a:latin typeface="Open Sans"/>
                <a:ea typeface="Open Sans"/>
                <a:cs typeface="Open Sans"/>
                <a:sym typeface="Open Sans"/>
              </a:rPr>
              <a:t>房源展示区大量图片无法加载。对于视觉驱动的房地产行业，这是致命错误，直接暗示了公司的不专业或管理混乱，让客户对房源真实性产生质疑。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731000" y="2540000"/>
            <a:ext cx="241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B87333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19098">
            <a:off x="6731018" y="3422650"/>
            <a:ext cx="228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B8733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1" name="AutoShape 11"/>
          <p:cNvSpPr/>
          <p:nvPr/>
        </p:nvSpPr>
        <p:spPr>
          <a:xfrm>
            <a:off x="6731000" y="3683000"/>
            <a:ext cx="241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F2F2F"/>
                </a:solidFill>
                <a:latin typeface="Montserrat"/>
                <a:ea typeface="Montserrat"/>
                <a:cs typeface="Montserrat"/>
                <a:sym typeface="Montserrat"/>
              </a:rPr>
              <a:t>恼人的内容冗余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731000" y="4445000"/>
            <a:ext cx="2413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F2F2F"/>
                </a:solidFill>
                <a:latin typeface="Open Sans"/>
                <a:ea typeface="Open Sans"/>
                <a:cs typeface="Open Sans"/>
                <a:sym typeface="Open Sans"/>
              </a:rPr>
              <a:t>页面中部出现大量重复的关键词列表，这极可能是模板错误或拙劣的SEO尝试，极大地破坏了页面的美感和专业性，让高端客户感到敷衍和不适。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525000" y="2921000"/>
            <a:ext cx="203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B87333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21485">
            <a:off x="9525020" y="3803650"/>
            <a:ext cx="203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B8733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5" name="AutoShape 15"/>
          <p:cNvSpPr/>
          <p:nvPr/>
        </p:nvSpPr>
        <p:spPr>
          <a:xfrm>
            <a:off x="9525000" y="4064000"/>
            <a:ext cx="203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F2F2F"/>
                </a:solidFill>
                <a:latin typeface="Montserrat"/>
                <a:ea typeface="Montserrat"/>
                <a:cs typeface="Montserrat"/>
                <a:sym typeface="Montserrat"/>
              </a:rPr>
              <a:t>核心功能缺失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9525000" y="4826000"/>
            <a:ext cx="2032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F2F2F"/>
                </a:solidFill>
                <a:latin typeface="Open Sans"/>
                <a:ea typeface="Open Sans"/>
                <a:cs typeface="Open Sans"/>
                <a:sym typeface="Open Sans"/>
              </a:rPr>
              <a:t>缺少在线联系表单、社交媒体链接、房源筛选功能。这不仅让用户难以联系我们，也让品牌显得孤立和不透明，直接切断了转化路径，错失大量潜在线索。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C8B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2794000" cy="68580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8575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目 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048000" y="762000"/>
            <a:ext cx="7620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3302000" y="952500"/>
            <a:ext cx="76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B87333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318000" y="914400"/>
            <a:ext cx="609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2F2F2F"/>
                </a:solidFill>
                <a:latin typeface="Montserrat"/>
                <a:ea typeface="Montserrat"/>
                <a:cs typeface="Montserrat"/>
                <a:sym typeface="Montserrat"/>
              </a:rPr>
              <a:t>现状诊断与核心问题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2F2F2F"/>
                </a:solidFill>
                <a:latin typeface="Open Sans"/>
                <a:ea typeface="Open Sans"/>
                <a:cs typeface="Open Sans"/>
                <a:sym typeface="Open Sans"/>
              </a:rPr>
              <a:t>深度剖析当前网站在信任、价值、体验三方面的核心障碍，通过数据调研与用户反馈交叉验证，定位关键瓶颈与改进机会点。</a:t>
            </a:r>
            <a:endParaRPr lang="en-US" sz="1200" b="0" i="0" u="none" strike="noStrike">
              <a:solidFill>
                <a:srgbClr val="2F2F2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3048000" y="2286000"/>
            <a:ext cx="7620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004D4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3302000" y="2476500"/>
            <a:ext cx="76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B87333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318000" y="2438400"/>
            <a:ext cx="609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2F2F2F"/>
                </a:solidFill>
                <a:latin typeface="Montserrat"/>
                <a:ea typeface="Montserrat"/>
                <a:cs typeface="Montserrat"/>
                <a:sym typeface="Montserrat"/>
              </a:rPr>
              <a:t>战略优化建议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2F2F2F"/>
                </a:solidFill>
                <a:latin typeface="Open Sans"/>
                <a:ea typeface="Open Sans"/>
                <a:cs typeface="Open Sans"/>
                <a:sym typeface="Open Sans"/>
              </a:rPr>
              <a:t>针对诊断出的核心问题，提出构建信任体系、深化品牌价值传递、优化全链路用户体验的三大系统性解决方案，确立整体优化方向。</a:t>
            </a:r>
            <a:endParaRPr lang="en-US" sz="1200" b="0" i="0" u="none" strike="noStrike">
              <a:solidFill>
                <a:srgbClr val="2F2F2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3048000" y="3810000"/>
            <a:ext cx="7620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3302000" y="4000500"/>
            <a:ext cx="76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B87333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318000" y="3962400"/>
            <a:ext cx="609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2F2F2F"/>
                </a:solidFill>
                <a:latin typeface="Montserrat"/>
                <a:ea typeface="Montserrat"/>
                <a:cs typeface="Montserrat"/>
                <a:sym typeface="Montserrat"/>
              </a:rPr>
              <a:t>具体行动方案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2F2F2F"/>
                </a:solidFill>
                <a:latin typeface="Open Sans"/>
                <a:ea typeface="Open Sans"/>
                <a:cs typeface="Open Sans"/>
                <a:sym typeface="Open Sans"/>
              </a:rPr>
              <a:t>拆解战略为可落地的执行细节，提供内容重塑、功能迭代、视觉设计优化的详细清单，并制定分阶段的执行优先级与时间规划表。</a:t>
            </a:r>
            <a:endParaRPr lang="en-US" sz="1200" b="0" i="0" u="none" strike="noStrike">
              <a:solidFill>
                <a:srgbClr val="2F2F2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3048000" y="5334000"/>
            <a:ext cx="7620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3302000" y="5524500"/>
            <a:ext cx="76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B87333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318000" y="5486400"/>
            <a:ext cx="609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2F2F2F"/>
                </a:solidFill>
                <a:latin typeface="Montserrat"/>
                <a:ea typeface="Montserrat"/>
                <a:cs typeface="Montserrat"/>
                <a:sym typeface="Montserrat"/>
              </a:rPr>
              <a:t>预期成果与投资回报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2F2F2F"/>
                </a:solidFill>
                <a:latin typeface="Open Sans"/>
                <a:ea typeface="Open Sans"/>
                <a:cs typeface="Open Sans"/>
                <a:sym typeface="Open Sans"/>
              </a:rPr>
              <a:t>量化优化后的转化提升、用户留存增长等商业价值，同时评估长期品牌资产沉淀带来的隐性效益，明确投入产出比与价值回报周期。</a:t>
            </a:r>
            <a:endParaRPr lang="en-US" sz="1200" b="0" i="0" u="none" strike="noStrike">
              <a:solidFill>
                <a:srgbClr val="2F2F2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C8B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81000" y="381000"/>
            <a:ext cx="1143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2F2F2F"/>
                </a:solidFill>
                <a:latin typeface="Montserrat"/>
                <a:ea typeface="Montserrat"/>
                <a:cs typeface="Montserrat"/>
                <a:sym typeface="Montserrat"/>
              </a:rPr>
              <a:t>三大战略支柱：系统性解决核心问题，驱动业务增长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381000" y="1016000"/>
            <a:ext cx="1143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2F2F2F"/>
                </a:solidFill>
                <a:latin typeface="Open Sans"/>
                <a:ea typeface="Open Sans"/>
                <a:cs typeface="Open Sans"/>
                <a:sym typeface="Open Sans"/>
              </a:rPr>
              <a:t>战略优化建议：构建信任、深化价值、优化体验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3819">
            <a:off x="381004" y="1771650"/>
            <a:ext cx="1143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D4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381000" y="2159000"/>
            <a:ext cx="35560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4D40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381000" y="2159000"/>
            <a:ext cx="3556000" cy="7620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08000" y="228600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B87333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r>
              <a:rPr lang="en-US" sz="1800" b="1" i="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构建信任护城河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08000" y="3175000"/>
            <a:ext cx="3302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F2F2F"/>
                </a:solidFill>
                <a:latin typeface="Open Sans"/>
                <a:ea typeface="Open Sans"/>
                <a:cs typeface="Open Sans"/>
                <a:sym typeface="Open Sans"/>
              </a:rPr>
              <a:t>通过充实“关于我们”品牌叙事、全方位展示核心团队专业背景、系统化梳理并分享标杆成功案例，同时引入真实客户评价与反馈体系，系统性地建立品牌信誉资产。将原本匿名、扁平的信息展示，转变为有温度、有故事、有实力背书的品牌平台，让潜在客户在认知初期就能建立深度信任感，夯实转化的心理基础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191000" y="2159000"/>
            <a:ext cx="38100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4D40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191000" y="2159000"/>
            <a:ext cx="3810000" cy="7620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318000" y="2286000"/>
            <a:ext cx="355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B87333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r>
              <a:rPr lang="en-US" sz="1800" b="1" i="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深化内容与价值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318000" y="3175000"/>
            <a:ext cx="3556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F2F2F"/>
                </a:solidFill>
                <a:latin typeface="Open Sans"/>
                <a:ea typeface="Open Sans"/>
                <a:cs typeface="Open Sans"/>
                <a:sym typeface="Open Sans"/>
              </a:rPr>
              <a:t>针对三大核心业务板块，创建独立且有深度的专属介绍页面，摒弃模糊的通用描述，详细拆解服务流程、核心优势、适用场景与落地成果。把抽象的品牌口号转化为具象的客户价值，用可视化、故事化的方式呈现服务能为客户解决的具体问题与带来的实际收益，清晰有力地回答客户心中“为什么选择你”这一关键决策问题，强化差异化竞争力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255000" y="2159000"/>
            <a:ext cx="33020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4D40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8255000" y="2159000"/>
            <a:ext cx="3302000" cy="7620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382000" y="22860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B87333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r>
              <a:rPr lang="en-US" sz="1800" b="1" i="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优化全链路体验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382000" y="3175000"/>
            <a:ext cx="3048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F2F2F"/>
                </a:solidFill>
                <a:latin typeface="Open Sans"/>
                <a:ea typeface="Open Sans"/>
                <a:cs typeface="Open Sans"/>
                <a:sym typeface="Open Sans"/>
              </a:rPr>
              <a:t>优先修复现有网站的技术故障与显示问题，补齐在线咨询表单、社交媒体官方链接、便捷联系方式等核心转化入口；同步优化移动端适配效果，确保页面加载、操作交互流畅自然。从用户初次访问的视觉认知，到信息浏览、价值判断，再到意向表达的转化环节，全链路打磨每一个触点的体验，消除用户流失的技术与体验障碍，提升整体转化效率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381000" y="6096000"/>
            <a:ext cx="11176000" cy="508000"/>
          </a:xfrm>
          <a:prstGeom prst="roundRect">
            <a:avLst>
              <a:gd name="adj" fmla="val 0"/>
            </a:avLst>
          </a:prstGeom>
          <a:solidFill>
            <a:srgbClr val="004D4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508000" y="6197600"/>
            <a:ext cx="1092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004D40"/>
                </a:solidFill>
                <a:latin typeface="Open Sans"/>
                <a:ea typeface="Open Sans"/>
                <a:cs typeface="Open Sans"/>
                <a:sym typeface="Open Sans"/>
              </a:rPr>
              <a:t>核心逻辑：以信任为根基，以价值为核心，以体验为保障，三位一体驱动业务从流量到留量的转化闭环。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C8B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81000" y="381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2F2F2F"/>
                </a:solidFill>
                <a:latin typeface="Montserrat"/>
                <a:ea typeface="Montserrat"/>
                <a:cs typeface="Montserrat"/>
                <a:sym typeface="Montserrat"/>
              </a:rPr>
              <a:t>战略一：构建信任护城河，让品牌变得可信、可亲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08000" y="1397000"/>
            <a:ext cx="2794000" cy="46990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08000" y="1397000"/>
            <a:ext cx="2794000" cy="469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Build Trust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810000" y="1651000"/>
            <a:ext cx="101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B87333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953000" y="1778000"/>
            <a:ext cx="317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F2F2F"/>
                </a:solidFill>
                <a:latin typeface="Montserrat"/>
                <a:ea typeface="Montserrat"/>
                <a:cs typeface="Montserrat"/>
                <a:sym typeface="Montserrat"/>
              </a:rPr>
              <a:t>打造深度“关于我们”页面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3810000" y="2540000"/>
            <a:ext cx="330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2F2F2F"/>
                </a:solidFill>
                <a:latin typeface="Open Sans"/>
                <a:ea typeface="Open Sans"/>
                <a:cs typeface="Open Sans"/>
                <a:sym typeface="Open Sans"/>
              </a:rPr>
              <a:t>撰写高质量品牌故事，阐述愿景使命，将“Built on Light”等口号与为客户创造价值的实际行动相结合，传递品牌核心精神。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874000" y="1778000"/>
            <a:ext cx="101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B87333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017000" y="1905000"/>
            <a:ext cx="279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F2F2F"/>
                </a:solidFill>
                <a:latin typeface="Montserrat"/>
                <a:ea typeface="Montserrat"/>
                <a:cs typeface="Montserrat"/>
                <a:sym typeface="Montserrat"/>
              </a:rPr>
              <a:t>推出“核心团队”展示区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874000" y="2667000"/>
            <a:ext cx="292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2F2F2F"/>
                </a:solidFill>
                <a:latin typeface="Open Sans"/>
                <a:ea typeface="Open Sans"/>
                <a:cs typeface="Open Sans"/>
                <a:sym typeface="Open Sans"/>
              </a:rPr>
              <a:t>为创始人及高管创建个人简介，突出专业背景与行业成就，展现团队的专业积淀与人格魅力，让真实的“人”成为用户信任的基石。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937000" y="4191000"/>
            <a:ext cx="101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B87333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080000" y="4318000"/>
            <a:ext cx="304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F2F2F"/>
                </a:solidFill>
                <a:latin typeface="Montserrat"/>
                <a:ea typeface="Montserrat"/>
                <a:cs typeface="Montserrat"/>
                <a:sym typeface="Montserrat"/>
              </a:rPr>
              <a:t>建立“成功案例”专区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937000" y="5016500"/>
            <a:ext cx="317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2F2F2F"/>
                </a:solidFill>
                <a:latin typeface="Open Sans"/>
                <a:ea typeface="Open Sans"/>
                <a:cs typeface="Open Sans"/>
                <a:sym typeface="Open Sans"/>
              </a:rPr>
              <a:t>为三大核心业务方向创建详细的案例研究，用“挑战-解决方案-成果”的逻辑结构，直观展示我们解决实际问题的专业能力与成效。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01000" y="4381500"/>
            <a:ext cx="101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B87333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9144000" y="4508500"/>
            <a:ext cx="266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F2F2F"/>
                </a:solidFill>
                <a:latin typeface="Montserrat"/>
                <a:ea typeface="Montserrat"/>
                <a:cs typeface="Montserrat"/>
                <a:sym typeface="Montserrat"/>
              </a:rPr>
              <a:t>引入社会证明元素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001000" y="51435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2F2F2F"/>
                </a:solidFill>
                <a:latin typeface="Open Sans"/>
                <a:ea typeface="Open Sans"/>
                <a:cs typeface="Open Sans"/>
                <a:sym typeface="Open Sans"/>
              </a:rPr>
              <a:t>整合真实客户评价、权威合作伙伴Logo墙及主流媒体报道素材，利用社会认同原理降低客户决策门槛，强化品牌的公信力与认可度。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C8B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81000" y="381000"/>
            <a:ext cx="1117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2F2F2F"/>
                </a:solidFill>
                <a:latin typeface="Montserrat"/>
                <a:ea typeface="Montserrat"/>
                <a:cs typeface="Montserrat"/>
                <a:sym typeface="Montserrat"/>
              </a:rPr>
              <a:t>战略二&amp;三：深化价值沟通并优化用户体验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3819">
            <a:off x="381004" y="1136650"/>
            <a:ext cx="1143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D4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381000" y="1524000"/>
            <a:ext cx="2921000" cy="46990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508000" y="2921000"/>
            <a:ext cx="2667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2600" b="1" i="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Communicate</a:t>
            </a:r>
            <a:br>
              <a:rPr lang="en-US" sz="2600" b="1" i="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2600" b="1" i="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&amp;</a:t>
            </a:r>
            <a:br>
              <a:rPr lang="en-US" sz="2600" b="1" i="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2600" b="1" i="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Optimize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937000" y="1651000"/>
            <a:ext cx="36830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3937000" y="1651000"/>
            <a:ext cx="76200" cy="1524000"/>
          </a:xfrm>
          <a:prstGeom prst="roundRect">
            <a:avLst>
              <a:gd name="adj" fmla="val 0"/>
            </a:avLst>
          </a:prstGeom>
          <a:solidFill>
            <a:srgbClr val="B8733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4127500" y="17780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B87333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953000" y="1879600"/>
            <a:ext cx="254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F2F2F"/>
                </a:solidFill>
                <a:latin typeface="Montserrat"/>
                <a:ea typeface="Montserrat"/>
                <a:cs typeface="Montserrat"/>
                <a:sym typeface="Montserrat"/>
              </a:rPr>
              <a:t>创建独立深度业务页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13222">
            <a:off x="4127512" y="2406650"/>
            <a:ext cx="330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D4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4127500" y="2540000"/>
            <a:ext cx="3365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2F2F2F"/>
                </a:solidFill>
                <a:latin typeface="Open Sans"/>
                <a:ea typeface="Open Sans"/>
                <a:cs typeface="Open Sans"/>
                <a:sym typeface="Open Sans"/>
              </a:rPr>
              <a:t>为三大业务创建独立页面，详细阐述服务流程、优势、案例和ROI分析，回答客户“为什么选择你”。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937000" y="3429000"/>
            <a:ext cx="3683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3937000" y="3429000"/>
            <a:ext cx="76200" cy="1397000"/>
          </a:xfrm>
          <a:prstGeom prst="roundRect">
            <a:avLst>
              <a:gd name="adj" fmla="val 0"/>
            </a:avLst>
          </a:prstGeom>
          <a:solidFill>
            <a:srgbClr val="B8733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4127500" y="35560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B87333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953000" y="3644900"/>
            <a:ext cx="254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F2F2F"/>
                </a:solidFill>
                <a:latin typeface="Montserrat"/>
                <a:ea typeface="Montserrat"/>
                <a:cs typeface="Montserrat"/>
                <a:sym typeface="Montserrat"/>
              </a:rPr>
              <a:t>建立“资源中心”或博客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13222">
            <a:off x="4127512" y="4184650"/>
            <a:ext cx="330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D4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4127500" y="4292600"/>
            <a:ext cx="3365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2F2F2F"/>
                </a:solidFill>
                <a:latin typeface="Open Sans"/>
                <a:ea typeface="Open Sans"/>
                <a:cs typeface="Open Sans"/>
                <a:sym typeface="Open Sans"/>
              </a:rPr>
              <a:t>定期发布行业洞察，建立专家形象，同时提升SEO表现，吸引自然流量，沉淀潜在客户信任。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3937000" y="5080000"/>
            <a:ext cx="3683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3937000" y="5080000"/>
            <a:ext cx="76200" cy="1206500"/>
          </a:xfrm>
          <a:prstGeom prst="roundRect">
            <a:avLst>
              <a:gd name="adj" fmla="val 0"/>
            </a:avLst>
          </a:prstGeom>
          <a:solidFill>
            <a:srgbClr val="B8733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4127500" y="5207000"/>
            <a:ext cx="76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B87333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4889500" y="5270500"/>
            <a:ext cx="254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F2F2F"/>
                </a:solidFill>
                <a:latin typeface="Montserrat"/>
                <a:ea typeface="Montserrat"/>
                <a:cs typeface="Montserrat"/>
                <a:sym typeface="Montserrat"/>
              </a:rPr>
              <a:t>优化房源信息展示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13222">
            <a:off x="4127512" y="5708650"/>
            <a:ext cx="330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D4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4127500" y="5778500"/>
            <a:ext cx="3365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2F2F2F"/>
                </a:solidFill>
                <a:latin typeface="Open Sans"/>
                <a:ea typeface="Open Sans"/>
                <a:cs typeface="Open Sans"/>
                <a:sym typeface="Open Sans"/>
              </a:rPr>
              <a:t>统一价格单位，确保信息完整，提供高质量实景照片与细节描述，提升信息可用性和专业度。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874000" y="1778000"/>
            <a:ext cx="36830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7874000" y="1778000"/>
            <a:ext cx="76200" cy="1524000"/>
          </a:xfrm>
          <a:prstGeom prst="roundRect">
            <a:avLst>
              <a:gd name="adj" fmla="val 0"/>
            </a:avLst>
          </a:prstGeom>
          <a:solidFill>
            <a:srgbClr val="B8733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8064500" y="19050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B87333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890000" y="2006600"/>
            <a:ext cx="254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F2F2F"/>
                </a:solidFill>
                <a:latin typeface="Montserrat"/>
                <a:ea typeface="Montserrat"/>
                <a:cs typeface="Montserrat"/>
                <a:sym typeface="Montserrat"/>
              </a:rPr>
              <a:t>全面技术审计与修复</a:t>
            </a:r>
            <a:endParaRPr lang="en-US" sz="1100"/>
          </a:p>
        </p:txBody>
      </p:sp>
      <p:cxnSp>
        <p:nvCxnSpPr>
          <p:cNvPr id="28" name="Connector 28"/>
          <p:cNvCxnSpPr/>
          <p:nvPr/>
        </p:nvCxnSpPr>
        <p:spPr>
          <a:xfrm rot="-13222">
            <a:off x="8064512" y="2533650"/>
            <a:ext cx="330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D4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" name="AutoShape 29"/>
          <p:cNvSpPr/>
          <p:nvPr/>
        </p:nvSpPr>
        <p:spPr>
          <a:xfrm>
            <a:off x="8064500" y="2667000"/>
            <a:ext cx="3365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2F2F2F"/>
                </a:solidFill>
                <a:latin typeface="Open Sans"/>
                <a:ea typeface="Open Sans"/>
                <a:cs typeface="Open Sans"/>
                <a:sym typeface="Open Sans"/>
              </a:rPr>
              <a:t>修复所有失效图片与链接，删除冗余代码和过期内容，优化页面加载速度，确保网站基础体验流畅稳定。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7874000" y="3556000"/>
            <a:ext cx="3683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7874000" y="3556000"/>
            <a:ext cx="76200" cy="1397000"/>
          </a:xfrm>
          <a:prstGeom prst="roundRect">
            <a:avLst>
              <a:gd name="adj" fmla="val 0"/>
            </a:avLst>
          </a:prstGeom>
          <a:solidFill>
            <a:srgbClr val="B8733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8064500" y="36830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B87333"/>
                </a:solidFill>
                <a:latin typeface="Montserrat"/>
                <a:ea typeface="Montserrat"/>
                <a:cs typeface="Montserrat"/>
                <a:sym typeface="Montserrat"/>
              </a:rPr>
              <a:t>05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8890000" y="3771900"/>
            <a:ext cx="254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F2F2F"/>
                </a:solidFill>
                <a:latin typeface="Montserrat"/>
                <a:ea typeface="Montserrat"/>
                <a:cs typeface="Montserrat"/>
                <a:sym typeface="Montserrat"/>
              </a:rPr>
              <a:t>增加核心功能模块</a:t>
            </a:r>
            <a:endParaRPr lang="en-US" sz="1100"/>
          </a:p>
        </p:txBody>
      </p:sp>
      <p:cxnSp>
        <p:nvCxnSpPr>
          <p:cNvPr id="34" name="Connector 34"/>
          <p:cNvCxnSpPr/>
          <p:nvPr/>
        </p:nvCxnSpPr>
        <p:spPr>
          <a:xfrm rot="-13222">
            <a:off x="8064512" y="4311650"/>
            <a:ext cx="330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D4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" name="AutoShape 35"/>
          <p:cNvSpPr/>
          <p:nvPr/>
        </p:nvSpPr>
        <p:spPr>
          <a:xfrm>
            <a:off x="8064500" y="4419600"/>
            <a:ext cx="3365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2F2F2F"/>
                </a:solidFill>
                <a:latin typeface="Open Sans"/>
                <a:ea typeface="Open Sans"/>
                <a:cs typeface="Open Sans"/>
                <a:sym typeface="Open Sans"/>
              </a:rPr>
              <a:t>开发在线联系表单、社交媒体跳转链接、精准房源搜索筛选功能，补齐转化路径上的关键交互环节。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7874000" y="5143500"/>
            <a:ext cx="3683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7" name="AutoShape 37"/>
          <p:cNvSpPr/>
          <p:nvPr/>
        </p:nvSpPr>
        <p:spPr>
          <a:xfrm>
            <a:off x="7874000" y="5143500"/>
            <a:ext cx="76200" cy="1143000"/>
          </a:xfrm>
          <a:prstGeom prst="roundRect">
            <a:avLst>
              <a:gd name="adj" fmla="val 0"/>
            </a:avLst>
          </a:prstGeom>
          <a:solidFill>
            <a:srgbClr val="B8733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8" name="AutoShape 38"/>
          <p:cNvSpPr/>
          <p:nvPr/>
        </p:nvSpPr>
        <p:spPr>
          <a:xfrm>
            <a:off x="8064500" y="5270500"/>
            <a:ext cx="76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B87333"/>
                </a:solidFill>
                <a:latin typeface="Montserrat"/>
                <a:ea typeface="Montserrat"/>
                <a:cs typeface="Montserrat"/>
                <a:sym typeface="Montserrat"/>
              </a:rPr>
              <a:t>06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8890000" y="5334000"/>
            <a:ext cx="254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F2F2F"/>
                </a:solidFill>
                <a:latin typeface="Montserrat"/>
                <a:ea typeface="Montserrat"/>
                <a:cs typeface="Montserrat"/>
                <a:sym typeface="Montserrat"/>
              </a:rPr>
              <a:t>确保移动端响应式设计</a:t>
            </a:r>
            <a:endParaRPr lang="en-US" sz="1100"/>
          </a:p>
        </p:txBody>
      </p:sp>
      <p:cxnSp>
        <p:nvCxnSpPr>
          <p:cNvPr id="40" name="Connector 40"/>
          <p:cNvCxnSpPr/>
          <p:nvPr/>
        </p:nvCxnSpPr>
        <p:spPr>
          <a:xfrm rot="-13222">
            <a:off x="8064512" y="5734050"/>
            <a:ext cx="330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D4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1" name="AutoShape 41"/>
          <p:cNvSpPr/>
          <p:nvPr/>
        </p:nvSpPr>
        <p:spPr>
          <a:xfrm>
            <a:off x="8064500" y="5816600"/>
            <a:ext cx="3365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2F2F2F"/>
                </a:solidFill>
                <a:latin typeface="Open Sans"/>
                <a:ea typeface="Open Sans"/>
                <a:cs typeface="Open Sans"/>
                <a:sym typeface="Open Sans"/>
              </a:rPr>
              <a:t>在手机、平板等多终端进行兼容性测试，确保布局自适应、操作便捷，覆盖全场景用户访问需求。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C8B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2794000" cy="68580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984500"/>
            <a:ext cx="279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目 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048000" y="762000"/>
            <a:ext cx="7620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3048000" y="762000"/>
            <a:ext cx="76200" cy="1143000"/>
          </a:xfrm>
          <a:prstGeom prst="roundRect">
            <a:avLst>
              <a:gd name="adj" fmla="val 0"/>
            </a:avLst>
          </a:prstGeom>
          <a:solidFill>
            <a:srgbClr val="B8733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3365500" y="10795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B87333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318000" y="952500"/>
            <a:ext cx="609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F2F2F"/>
                </a:solidFill>
                <a:latin typeface="Montserrat"/>
                <a:ea typeface="Montserrat"/>
                <a:cs typeface="Montserrat"/>
                <a:sym typeface="Montserrat"/>
              </a:rPr>
              <a:t>现状诊断与核心问题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318000" y="1333500"/>
            <a:ext cx="609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2F2F2F"/>
                </a:solidFill>
                <a:latin typeface="Open Sans"/>
                <a:ea typeface="Open Sans"/>
                <a:cs typeface="Open Sans"/>
                <a:sym typeface="Open Sans"/>
              </a:rPr>
              <a:t>深度剖析当前网站在信任、价值、体验三方面的核心障碍，从用户视角梳理痛点与转化流失点，为后续优化确立基准。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048000" y="2222500"/>
            <a:ext cx="7620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3048000" y="2222500"/>
            <a:ext cx="76200" cy="1143000"/>
          </a:xfrm>
          <a:prstGeom prst="roundRect">
            <a:avLst>
              <a:gd name="adj" fmla="val 0"/>
            </a:avLst>
          </a:prstGeom>
          <a:solidFill>
            <a:srgbClr val="B8733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3365500" y="25400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B87333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318000" y="2413000"/>
            <a:ext cx="609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F2F2F"/>
                </a:solidFill>
                <a:latin typeface="Montserrat"/>
                <a:ea typeface="Montserrat"/>
                <a:cs typeface="Montserrat"/>
                <a:sym typeface="Montserrat"/>
              </a:rPr>
              <a:t>战略优化建议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318000" y="2794000"/>
            <a:ext cx="609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2F2F2F"/>
                </a:solidFill>
                <a:latin typeface="Open Sans"/>
                <a:ea typeface="Open Sans"/>
                <a:cs typeface="Open Sans"/>
                <a:sym typeface="Open Sans"/>
              </a:rPr>
              <a:t>紧扣品牌核心价值，提出构建信任体系、深化价值传递、全链路优化体验的三大系统性解决方案，确立网站升级的核心方向。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048000" y="3683000"/>
            <a:ext cx="7620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004D4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3048000" y="3683000"/>
            <a:ext cx="76200" cy="1143000"/>
          </a:xfrm>
          <a:prstGeom prst="roundRect">
            <a:avLst>
              <a:gd name="adj" fmla="val 0"/>
            </a:avLst>
          </a:prstGeom>
          <a:solidFill>
            <a:srgbClr val="B8733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3365500" y="40005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B87333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318000" y="3873500"/>
            <a:ext cx="609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F2F2F"/>
                </a:solidFill>
                <a:latin typeface="Montserrat"/>
                <a:ea typeface="Montserrat"/>
                <a:cs typeface="Montserrat"/>
                <a:sym typeface="Montserrat"/>
              </a:rPr>
              <a:t>具体行动方案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318000" y="4254500"/>
            <a:ext cx="609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2F2F2F"/>
                </a:solidFill>
                <a:latin typeface="Open Sans"/>
                <a:ea typeface="Open Sans"/>
                <a:cs typeface="Open Sans"/>
                <a:sym typeface="Open Sans"/>
              </a:rPr>
              <a:t>将战略拆解为可落地的执行项，提供详细的内容重构、功能迭代、视觉设计优化清单，并明确各项目的执行优先级与排期规划。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3048000" y="5143500"/>
            <a:ext cx="7620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3048000" y="5143500"/>
            <a:ext cx="76200" cy="1143000"/>
          </a:xfrm>
          <a:prstGeom prst="roundRect">
            <a:avLst>
              <a:gd name="adj" fmla="val 0"/>
            </a:avLst>
          </a:prstGeom>
          <a:solidFill>
            <a:srgbClr val="B8733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3365500" y="54610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B87333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318000" y="5334000"/>
            <a:ext cx="609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F2F2F"/>
                </a:solidFill>
                <a:latin typeface="Montserrat"/>
                <a:ea typeface="Montserrat"/>
                <a:cs typeface="Montserrat"/>
                <a:sym typeface="Montserrat"/>
              </a:rPr>
              <a:t>预期成果与投资回报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4318000" y="5715000"/>
            <a:ext cx="609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2F2F2F"/>
                </a:solidFill>
                <a:latin typeface="Open Sans"/>
                <a:ea typeface="Open Sans"/>
                <a:cs typeface="Open Sans"/>
                <a:sym typeface="Open Sans"/>
              </a:rPr>
              <a:t>量化预期的商业转化提升与用户增长数据，明确优化项目带来的直接商业价值，以及对品牌形象、用户留存的长期隐性效益。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C8B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81000" y="381000"/>
            <a:ext cx="1143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2F2F2F"/>
                </a:solidFill>
                <a:latin typeface="Montserrat"/>
                <a:ea typeface="Montserrat"/>
                <a:cs typeface="Montserrat"/>
                <a:sym typeface="Montserrat"/>
              </a:rPr>
              <a:t>行动方案：按优先级划分的综合优化清单</a:t>
            </a:r>
            <a:endParaRPr lang="en-US" sz="1100"/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381000" y="1397000"/>
          <a:ext cx="11049000" cy="6096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778000"/>
                <a:gridCol w="3048000"/>
                <a:gridCol w="4318000"/>
                <a:gridCol w="1905000"/>
              </a:tblGrid>
              <a:tr h="762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模块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4D40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当前问题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4D40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优化建议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4D40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优先级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4D40">
                        <a:alpha val="100000"/>
                      </a:srgbClr>
                    </a:solidFill>
                  </a:tcPr>
                </a:tc>
              </a:tr>
              <a:tr h="762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2F2F2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首页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C8B4">
                        <a:alpha val="3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8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2F2F2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口号抽象，价值模糊，存在关键词堆砌，用户无法快速理解核心业务。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C8B4">
                        <a:alpha val="3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8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2F2F2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重新撰写首页文案，用具象语言阐述核心价值与服务；清理并删除重复、无效的关键词列表，提升阅读体验。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C8B4">
                        <a:alpha val="3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B94E48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高优先级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C8B4">
                        <a:alpha val="30000"/>
                      </a:srgbClr>
                    </a:solidFill>
                  </a:tcPr>
                </a:tc>
              </a:tr>
              <a:tr h="762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2F2F2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关于我们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8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2F2F2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内容单薄，仅简单介绍，无核心团队背景、履历及专业资质展示。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8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2F2F2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撰写完整品牌故事，传递理念；新增“核心团队”板块，补充成员照片、专业履历与行业经验，增强信任度。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B94E48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高优先级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762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2F2F2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业务介绍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C8B4">
                        <a:alpha val="3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8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2F2F2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描述笼统，缺乏服务细节、执行流程与核心优势，用户难以判断匹配度。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C8B4">
                        <a:alpha val="3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8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2F2F2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为三大核心业务搭建独立详情页，分点阐述服务内容、标准化流程、核心优势，并搭配对应服务案例辅助说明。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C8B4">
                        <a:alpha val="3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B94E48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高优先级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C8B4">
                        <a:alpha val="30000"/>
                      </a:srgbClr>
                    </a:solidFill>
                  </a:tcPr>
                </a:tc>
              </a:tr>
              <a:tr h="762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2F2F2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房源列表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8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2F2F2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房源基础信息缺失，部分关键参数不完整；存在无效、模糊的房源图片。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8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2F2F2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补全所有房源的面积、户型、配套等信息，统一价格与单位展示；替换所有低质、无效图片，确保视觉清晰。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B94E48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高优先级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762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2F2F2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联系我们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C8B4">
                        <a:alpha val="3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8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2F2F2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仅展示电话与邮箱，无在线表单，用户咨询路径长，转化效率低。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C8B4">
                        <a:alpha val="3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8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2F2F2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设计并上线功能完整的在线联系表单，包含需求类型、联系方式等核心字段，优化用户咨询与线索留存流程。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C8B4">
                        <a:alpha val="3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B94E48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高优先级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C8B4">
                        <a:alpha val="30000"/>
                      </a:srgbClr>
                    </a:solidFill>
                  </a:tcPr>
                </a:tc>
              </a:tr>
              <a:tr h="762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2F2F2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成功案例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8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2F2F2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成功案例板块完全缺失，无真实服务成果展示，无法佐证业务能力。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8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2F2F2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为各业务板块打造1-2个详细案例研究，包含项目背景、解决方案、最终成果与客户反馈，强化品牌说服力。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2F2F2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中优先级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762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2F2F2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功能开发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C8B4">
                        <a:alpha val="3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8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2F2F2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缺少社交媒体矩阵链接入口；房源无筛选功能，用户查找效率低。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C8B4">
                        <a:alpha val="3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8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2F2F2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添加官方社交媒体账号链接，增强私域引流；开发基础的房源筛选功能，支持按户型、价格、区域等条件过滤。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C8B4">
                        <a:alpha val="3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2F2F2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中优先级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C8B4">
                        <a:alpha val="3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D4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4064000"/>
            <a:ext cx="1219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6400" b="1" i="0" u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Thank You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5588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2000" b="0" i="0" u="none" strike="noStrike" spc="100">
                <a:solidFill>
                  <a:srgbClr val="FFFFFF">
                    <a:alpha val="90196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构建品牌信任与增长引擎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4191000" y="8636000"/>
            <a:ext cx="3810000" cy="50800"/>
          </a:xfrm>
          <a:prstGeom prst="roundRect">
            <a:avLst>
              <a:gd name="adj" fmla="val 0"/>
            </a:avLst>
          </a:prstGeom>
          <a:solidFill>
            <a:srgbClr val="B8733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4512</Words>
  <Application>WPS 演示</Application>
  <PresentationFormat/>
  <Paragraphs>337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31" baseType="lpstr">
      <vt:lpstr>Arial</vt:lpstr>
      <vt:lpstr>宋体</vt:lpstr>
      <vt:lpstr>Wingdings</vt:lpstr>
      <vt:lpstr>Arial</vt:lpstr>
      <vt:lpstr>Montserrat</vt:lpstr>
      <vt:lpstr>Segoe Print</vt:lpstr>
      <vt:lpstr>Open Sans</vt:lpstr>
      <vt:lpstr>Noto Sans SC</vt:lpstr>
      <vt:lpstr>Montserrat ExtraBold</vt:lpstr>
      <vt:lpstr>微软雅黑</vt:lpstr>
      <vt:lpstr>Arial Unicode MS</vt:lpstr>
      <vt:lpstr>Montserrat</vt:lpstr>
      <vt:lpstr>Montserrat ExtraBold</vt:lpstr>
      <vt:lpstr>Noto Sans SC</vt:lpstr>
      <vt:lpstr>Open Sans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黄爱兵.</cp:lastModifiedBy>
  <cp:revision>1</cp:revision>
  <dcterms:created xsi:type="dcterms:W3CDTF">2026-06-02T12:44:32Z</dcterms:created>
  <dcterms:modified xsi:type="dcterms:W3CDTF">2026-06-02T12:44:32Z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{"Label":"1","ContentProducer":"001191110102MACQD9K64010000","ProduceID":"7646777505139379405","ReservedCode1":"","ContentPropagator":"","PropagateID":"","ReservedCode2":""}</vt:lpwstr>
  </property>
  <property fmtid="{D5CDD505-2E9C-101B-9397-08002B2CF9AE}" pid="3" name="ICV">
    <vt:lpwstr>89142FC13E074C7D8E93949D49A5EC77_13</vt:lpwstr>
  </property>
  <property fmtid="{D5CDD505-2E9C-101B-9397-08002B2CF9AE}" pid="4" name="KSOProductBuildVer">
    <vt:lpwstr>2052-12.1.0.26375</vt:lpwstr>
  </property>
</Properties>
</file>